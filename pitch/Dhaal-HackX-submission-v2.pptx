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49"/>
  </p:normalViewPr>
  <p:slideViewPr>
    <p:cSldViewPr snapToGrid="0">
      <p:cViewPr>
        <p:scale>
          <a:sx n="66" d="100"/>
          <a:sy n="66" d="100"/>
        </p:scale>
        <p:origin x="1483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F6AE2-9F2D-1E35-1A17-9330D9A4E8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CD4CED-B2E2-9308-82C6-2C96D3FD5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B325D-69DC-9BD1-BF18-59A052215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A6429-B682-7368-0C49-55FE8A6B2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2BAA2-4EF4-082B-938E-F8D145911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25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034D2-6D79-0F7B-E11B-8BCDE607B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6C602-AE5E-A506-1502-193A15011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BF264-0796-B7D0-BA2E-C4BB7944D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1E9D7-AE60-76EC-ED31-63946798B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DD6F4-7F7B-B2DE-8B38-228B83524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611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E037D-F7E8-0133-DF5B-82C915EF6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F2A7C-48A9-5561-4A7A-29DB4C7EF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5949F-BBED-5F2A-5345-08547839C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4906C-D454-820B-371A-7FA3CD301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4B578-F956-A703-287F-DAD5567B0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922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94976-71C1-E6EF-9AC1-B25B513E9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45D41-D9E0-0D2B-C98B-9CE1D9C32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3AF9C-6890-6FD2-5118-FF08987A7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2715E-4BFF-F3D0-D4B5-1A1BC83DD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78419-CA20-2DD5-BFC7-FE777BD06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42D54-75E7-9110-0B8D-887636478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78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D7613-3AAE-377F-E75B-EDEEF5AC3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3F4CF-51AE-15A6-197B-78777EF34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5C9C2-2289-529C-8E42-64B3B2F7A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2ED327-8672-EE87-DEAB-002117C747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3F2CE0-BA71-822E-2F74-0A238B2204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C35BB5-2E4E-FF2A-C447-E79F0BF45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69F78A-FF05-2C55-87FD-7D68109FB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9368D2-BA20-B448-FDF1-1406EC3E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34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BFA3C-1930-6DE4-C04E-FF4BB1364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06B19D-F1B9-07D2-9496-865FDBAF6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8213A-F76D-8794-E8AC-89B1A90E4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AFB85-DEB8-C1AF-9F47-C8985F637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637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B8BEA-C1AE-80AC-B788-8DD25751D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5491D7-C3A2-E68F-55F6-F223D1E0D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ABD25-F132-41A4-AB7C-7209595FC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550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42D0C-0531-2101-51E8-CEE00A9CD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F337F-6710-833D-5F90-E9464C8C9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BB1C6-DF38-7FFC-9397-C41B3957A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2D38B-D6A6-073A-0953-6C7FB7859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FADE-CE10-201C-E5ED-6F9950BA0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DA0A5-B0F0-B3CB-60D1-0A81355F7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14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AAB85-2021-543B-4E90-53C463874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5E5D7-0EA9-DF0A-5675-8A3C23B890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3BCAF-D92F-A2C4-5096-DFA5A3BED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12D9B-CCBF-D844-D701-3C1B5B278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16667-DD02-80A7-3B27-60958CBB3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A8CA7-4082-FBBE-C7E9-D9B8A8F91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868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9DDA6-D047-2C1E-7532-DD3105C2D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99469-A125-A889-44EB-FEB4F2892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03B4B-21DC-2275-D77C-CADA27110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30736-2B74-FE9C-767D-1F4842E1E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B9328-B99E-0F47-FFF1-D4A957103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71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CC601F-F3DD-4421-D2E8-2172AF63A6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F6854D-EBFB-566B-680C-1370F2BEB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58BF2-5FD9-5296-D446-8CF16092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0472D-82D8-DC18-7527-36E98A609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9AA75-8A62-9E2E-CBB3-82566ECB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745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C29F23-F68F-8298-E976-FD51837B9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9ACC1-F056-B963-FEF8-AFED6944C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9ED91-79C0-F70E-D414-C84BF4EDE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24526-ABC5-5811-DDD9-910D30307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3E01A-8564-F347-D91B-988378C8A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45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23A69-451B-5C60-D3C3-80EFFDDB8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A25292-07CF-2C34-5DA8-2F8699C7A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EE91AB6-16D9-5270-4B41-454E74A5B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19" y="1186454"/>
            <a:ext cx="7185568" cy="2989077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39D722F3-6A88-8855-21FC-EFDDBD57D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72758"/>
            <a:ext cx="9144000" cy="1655762"/>
          </a:xfrm>
        </p:spPr>
        <p:txBody>
          <a:bodyPr>
            <a:normAutofit/>
          </a:bodyPr>
          <a:lstStyle/>
          <a:p>
            <a:r>
              <a:rPr lang="en-US" sz="2000" dirty="0" b="1">
                <a:solidFill>
                  <a:srgbClr val="156082"/>
                </a:solidFill>
                <a:latin typeface="Arial"/>
              </a:rPr>
              <a:t>Dhaal (ढाल) — the pre-payment scam shield for every Indian</a:t>
            </a:r>
          </a:p>
          <a:p>
            <a:r>
              <a:rPr lang="en-US" sz="1600" dirty="0" b="0">
                <a:solidFill>
                  <a:srgbClr val="0E2841"/>
                </a:solidFill>
                <a:latin typeface="Calibri"/>
              </a:rPr>
              <a:t>Team Name: [Your Team Name]</a:t>
            </a:r>
          </a:p>
          <a:p>
            <a:r>
              <a:rPr lang="en-US" sz="1600" dirty="0" b="0">
                <a:solidFill>
                  <a:srgbClr val="0E2841"/>
                </a:solidFill>
                <a:latin typeface="Calibri"/>
              </a:rPr>
              <a:t>Team ID: [Registration ID]</a:t>
            </a:r>
          </a:p>
          <a:p>
            <a:r>
              <a:rPr lang="en-US" sz="1600" dirty="0" b="0">
                <a:solidFill>
                  <a:srgbClr val="0E2841"/>
                </a:solidFill>
                <a:latin typeface="Calibri"/>
              </a:rPr>
              <a:t>Problem Statement Selected: Consumer Protection Against Payment Scams (Fintech PS #7)</a:t>
            </a:r>
          </a:p>
          <a:p>
            <a:r>
              <a:rPr sz="1600" b="0">
                <a:solidFill>
                  <a:srgbClr val="0E2841"/>
                </a:solidFill>
                <a:latin typeface="Calibri"/>
              </a:rPr>
              <a:t>Theme: Fintech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4D76ABC-7E7F-FB75-D63B-7BEE818D8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235" y="209291"/>
            <a:ext cx="2357120" cy="47102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B38EF3-6BB7-0D35-2249-1B253CD46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7367" y="160131"/>
            <a:ext cx="4563964" cy="62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302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41C40-8C7D-63E5-7926-0040126F7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6963EB8-7F4C-0E45-C71F-F815C1A77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9E11D4D5-F915-BD3F-BCC6-A22137EB3F0E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IDEA / SOLUTION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65BBE8-1472-B476-2F21-FD3EAFABF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F8BCF7-7588-9F76-5156-E3621DB33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" y="17830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E2841"/>
                </a:solidFill>
                <a:latin typeface="Arial"/>
              </a:rPr>
              <a:t>पैसे भेजने से पहले — एक जाँच।  </a:t>
            </a:r>
            <a:r>
              <a:rPr sz="1700" b="1">
                <a:solidFill>
                  <a:srgbClr val="156082"/>
                </a:solidFill>
                <a:latin typeface="Arial"/>
              </a:rPr>
              <a:t>One check before you pay: paste it, photo it, or SPEAK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423160"/>
            <a:ext cx="5074920" cy="1645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31750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56082"/>
                </a:solidFill>
                <a:latin typeface="Arial"/>
              </a:rPr>
              <a:t>जाँच · Check</a:t>
            </a:r>
          </a:p>
          <a:p>
            <a:r>
              <a:rPr sz="1200" b="0">
                <a:solidFill>
                  <a:srgbClr val="0E2841"/>
                </a:solidFill>
                <a:latin typeface="Calibri"/>
              </a:rPr>
              <a:t>Verdict + every weighted signal, in the user's language (हिं/EN toggle) — and spoken aloud. Never "safe", only "no known risk".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423160"/>
            <a:ext cx="5074920" cy="1645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31750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56082"/>
                </a:solidFill>
                <a:latin typeface="Arial"/>
              </a:rPr>
              <a:t>परिवार की ढाल · Guardian</a:t>
            </a:r>
          </a:p>
          <a:p>
            <a:r>
              <a:rPr sz="1200" b="0">
                <a:solidFill>
                  <a:srgbClr val="0E2841"/>
                </a:solidFill>
                <a:latin typeface="Calibri"/>
              </a:rPr>
              <a:t>An elderly user's risky payment pings family for a 10-second Allow/Block. Every check visible; dignity intact — risk, never transactions.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06240"/>
            <a:ext cx="5074920" cy="1645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31750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56082"/>
                </a:solidFill>
                <a:latin typeface="Arial"/>
              </a:rPr>
              <a:t>धोखों का नक्शा · Intel</a:t>
            </a:r>
          </a:p>
          <a:p>
            <a:r>
              <a:rPr sz="1200" b="0">
                <a:solidFill>
                  <a:srgbClr val="0E2841"/>
                </a:solidFill>
                <a:latin typeface="Calibri"/>
              </a:rPr>
              <a:t>Report → human verify → everyone's live blocklist. A scam burned in Jaipur today can't work in Jodhpur tomorrow.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206240"/>
            <a:ext cx="5074920" cy="1645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31750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56082"/>
                </a:solidFill>
                <a:latin typeface="Arial"/>
              </a:rPr>
              <a:t>पहला घंटा · Recover</a:t>
            </a:r>
          </a:p>
          <a:p>
            <a:r>
              <a:rPr sz="1200" b="0">
                <a:solidFill>
                  <a:srgbClr val="0E2841"/>
                </a:solidFill>
                <a:latin typeface="Calibri"/>
              </a:rPr>
              <a:t>1930 call script + cybercrime.gov.in complaint + bank letter — auto-drafted in Hindi, in the golden hour that gets money back.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053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E2841"/>
                </a:solidFill>
                <a:latin typeface="Arial"/>
              </a:rPr>
              <a:t>The verdict is computed by rules — the AI explains it, and can never change it.   </a:t>
            </a:r>
            <a:r>
              <a:rPr sz="1500" b="1">
                <a:solidFill>
                  <a:srgbClr val="C62828"/>
                </a:solidFill>
                <a:latin typeface="Arial"/>
              </a:rPr>
              <a:t>LIVE: dhaal-delta.vercel.app — check your own inbox in Q&amp;A.</a:t>
            </a:r>
          </a:p>
        </p:txBody>
      </p:sp>
    </p:spTree>
    <p:extLst>
      <p:ext uri="{BB962C8B-B14F-4D97-AF65-F5344CB8AC3E}">
        <p14:creationId xmlns:p14="http://schemas.microsoft.com/office/powerpoint/2010/main" val="1878704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5401E-A2F9-F68A-C13C-002654EB3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B06D229-9385-3356-27D2-D311E4E93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F8EAF9B0-D700-6FFD-FA14-C703DA508D50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TECHNICAL APPROACH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5310F7-1D93-0B4B-D470-65F058648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AD54A5-EFB4-4AD9-699F-11FADC319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178308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0E2841"/>
                </a:solidFill>
                <a:latin typeface="Calibri"/>
              </a:rPr>
              <a:t>Next.js PWA (Vercel) · FastAPI on Vercel Python · MongoDB Atlas · Claude claude-sonnet-5 · Sarvam AI (Saarika ASR + Bulbul TTS) · jsQR on-device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14600"/>
            <a:ext cx="22860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0E2841"/>
                </a:solidFill>
                <a:latin typeface="Arial"/>
              </a:rPr>
              <a:t>INPUT</a:t>
            </a:r>
          </a:p>
          <a:p>
            <a:pPr algn="ctr"/>
            <a:r>
              <a:rPr sz="1000" b="0">
                <a:solidFill>
                  <a:srgbClr val="515E6E"/>
                </a:solidFill>
                <a:latin typeface="Calibri"/>
              </a:rPr>
              <a:t>text · URL · UPI · QR (on-device) · voice ASR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00400" y="2999232"/>
            <a:ext cx="411480" cy="457200"/>
          </a:xfrm>
          <a:prstGeom prst="rightArrow">
            <a:avLst/>
          </a:prstGeom>
          <a:solidFill>
            <a:srgbClr val="E8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3320" y="2377440"/>
            <a:ext cx="4114800" cy="1691640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 w="2857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SIGNAL ENGINE</a:t>
            </a:r>
          </a:p>
          <a:p>
            <a:pPr algn="ctr"/>
            <a:r>
              <a:rPr sz="1000" b="0">
                <a:solidFill>
                  <a:srgbClr val="F3D9D9"/>
                </a:solidFill>
                <a:latin typeface="Calibri"/>
              </a:rPr>
              <a:t>deterministic verdict — collect-vs-pay · lookalike domains · 10 scam-script families · coercion · bait-VPA · blocklist  |  ≥60 खतरा · ≥30 सावधान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09560" y="2999232"/>
            <a:ext cx="411480" cy="457200"/>
          </a:xfrm>
          <a:prstGeom prst="rightArrow">
            <a:avLst/>
          </a:prstGeom>
          <a:solidFill>
            <a:srgbClr val="E8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0" y="2514600"/>
            <a:ext cx="29260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0E2841"/>
                </a:solidFill>
                <a:latin typeface="Arial"/>
              </a:rPr>
              <a:t>EXPLAIN &amp; SPEAK</a:t>
            </a:r>
          </a:p>
          <a:p>
            <a:pPr algn="ctr"/>
            <a:r>
              <a:rPr sz="1000" b="0">
                <a:solidFill>
                  <a:srgbClr val="515E6E"/>
                </a:solidFill>
                <a:latin typeface="Calibri"/>
              </a:rPr>
              <a:t>Claude narrates from signals — zero verdict weight · Bulbul speaks the warning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33288" y="4069080"/>
            <a:ext cx="54864" cy="4572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4840" y="4526280"/>
            <a:ext cx="26517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156082"/>
                </a:solidFill>
                <a:latin typeface="Arial"/>
              </a:rPr>
              <a:t>MongoDB Atlas</a:t>
            </a:r>
          </a:p>
          <a:p>
            <a:pPr algn="ctr"/>
            <a:r>
              <a:rPr sz="950" b="0">
                <a:solidFill>
                  <a:srgbClr val="515E6E"/>
                </a:solidFill>
                <a:latin typeface="Calibri"/>
              </a:rPr>
              <a:t>durable community intel — human-verified blocklist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8640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800" b="1">
                <a:solidFill>
                  <a:srgbClr val="156082"/>
                </a:solidFill>
                <a:latin typeface="Arial"/>
              </a:rPr>
              <a:t>Reliability engineering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E2841"/>
                </a:solidFill>
                <a:latin typeface="Calibri"/>
              </a:rPr>
              <a:t>Retry-once + deterministic fallback on every external call (dead Wi-Fi degrades prose, never protection; mocked responses say mocked:true) · 49 automated checks green · measured live: verdict in ms, p50 5.4s with explanation, Hindi ASR 0.6s.</a:t>
            </a:r>
          </a:p>
        </p:txBody>
      </p:sp>
    </p:spTree>
    <p:extLst>
      <p:ext uri="{BB962C8B-B14F-4D97-AF65-F5344CB8AC3E}">
        <p14:creationId xmlns:p14="http://schemas.microsoft.com/office/powerpoint/2010/main" val="3825765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02FBD-CBBD-6E7A-8F99-03C2E2901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B04B77D-A964-8DB6-902A-54E2526D8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02F223C4-723B-D8FF-2E5F-5046513C4580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USER EXPERIENCE &amp;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B7DEE1-657B-AF06-8122-5796D8557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699807-7773-E300-C1BA-EC6E6BACB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1828800"/>
            <a:ext cx="105156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800" b="1">
                <a:solidFill>
                  <a:srgbClr val="156082"/>
                </a:solidFill>
                <a:latin typeface="Arial"/>
              </a:rPr>
              <a:t>A public-safety poster, not a SaaS dashboard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E2841"/>
                </a:solidFill>
                <a:latin typeface="Calibri"/>
              </a:rPr>
              <a:t>Hand-built "suraksha poster" identity — ink + saffron hazard language, Anek Devanagari display type, a rubber-stamp community count on the verdict card.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800" b="1">
                <a:solidFill>
                  <a:srgbClr val="156082"/>
                </a:solidFill>
                <a:latin typeface="Arial"/>
              </a:rPr>
              <a:t>Built for the next billion users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E2841"/>
                </a:solidFill>
                <a:latin typeface="Calibri"/>
              </a:rPr>
              <a:t>Hindi-first with a global हिं/EN toggle that holds across every page and every output — including the spoken warning · voice in AND out for low-literacy users · QR photos decoded on-device (the image never leaves the phone) · entry-level phones, weak networks.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800" b="1">
                <a:solidFill>
                  <a:srgbClr val="156082"/>
                </a:solidFill>
                <a:latin typeface="Arial"/>
              </a:rPr>
              <a:t>Dignity by design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E2841"/>
                </a:solidFill>
                <a:latin typeface="Calibri"/>
              </a:rPr>
              <a:t>Guardian mode shares the risk summary only — never transactions. Risky checks ask for a decision; clean ones appear as quiet notes. Honest language everywhere.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C62828"/>
                </a:solidFill>
                <a:latin typeface="Arial"/>
              </a:rPr>
              <a:t>Danger screams. Safety whispers.</a:t>
            </a:r>
          </a:p>
        </p:txBody>
      </p:sp>
    </p:spTree>
    <p:extLst>
      <p:ext uri="{BB962C8B-B14F-4D97-AF65-F5344CB8AC3E}">
        <p14:creationId xmlns:p14="http://schemas.microsoft.com/office/powerpoint/2010/main" val="1631693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BE5B1-2A68-3BFA-91DB-CDDDF3460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703AB20-2028-7096-D4C2-A5C2F4DEC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1EC8439A-6F4E-8345-D2B1-B1AC36D1F2B5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FEASIBILITY AND VIABILITY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BF897E-31FC-0AB8-3A68-2EBDB9376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C373A6-492C-D1EA-CCD3-0986CFA63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17830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0E2841"/>
                </a:solidFill>
                <a:latin typeface="Arial"/>
              </a:rPr>
              <a:t>Not a concept — deployed, tested and durable tonight.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468880"/>
            <a:ext cx="24871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54864"/>
          <a:lstStyle/>
          <a:p>
            <a:pPr algn="ctr"/>
            <a:r>
              <a:rPr sz="3800" b="1">
                <a:solidFill>
                  <a:srgbClr val="0E2841"/>
                </a:solidFill>
                <a:latin typeface="Arial"/>
              </a:rPr>
              <a:t>49</a:t>
            </a:r>
          </a:p>
          <a:p>
            <a:pPr algn="ctr"/>
            <a:r>
              <a:rPr sz="1050" b="1">
                <a:solidFill>
                  <a:srgbClr val="515E6E"/>
                </a:solidFill>
                <a:latin typeface="Arial"/>
              </a:rPr>
              <a:t>AUTOMATED CHECKS GREEN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2468880"/>
            <a:ext cx="24871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54864"/>
          <a:lstStyle/>
          <a:p>
            <a:pPr algn="ctr"/>
            <a:r>
              <a:rPr sz="3800" b="1">
                <a:solidFill>
                  <a:srgbClr val="156082"/>
                </a:solidFill>
                <a:latin typeface="Arial"/>
              </a:rPr>
              <a:t>5.4s</a:t>
            </a:r>
          </a:p>
          <a:p>
            <a:pPr algn="ctr"/>
            <a:r>
              <a:rPr sz="1050" b="1">
                <a:solidFill>
                  <a:srgbClr val="515E6E"/>
                </a:solidFill>
                <a:latin typeface="Arial"/>
              </a:rPr>
              <a:t>P50 CHECK, LIVE PROD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2468880"/>
            <a:ext cx="24871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54864"/>
          <a:lstStyle/>
          <a:p>
            <a:pPr algn="ctr"/>
            <a:r>
              <a:rPr sz="3800" b="1">
                <a:solidFill>
                  <a:srgbClr val="156082"/>
                </a:solidFill>
                <a:latin typeface="Arial"/>
              </a:rPr>
              <a:t>450+</a:t>
            </a:r>
          </a:p>
          <a:p>
            <a:pPr algn="ctr"/>
            <a:r>
              <a:rPr sz="1050" b="1">
                <a:solidFill>
                  <a:srgbClr val="515E6E"/>
                </a:solidFill>
                <a:latin typeface="Arial"/>
              </a:rPr>
              <a:t>VERIFIED REPORTS IN ATLAS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0536" y="2468880"/>
            <a:ext cx="24871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54864"/>
          <a:lstStyle/>
          <a:p>
            <a:pPr algn="ctr"/>
            <a:r>
              <a:rPr sz="3800" b="1">
                <a:solidFill>
                  <a:srgbClr val="C62828"/>
                </a:solidFill>
                <a:latin typeface="Arial"/>
              </a:rPr>
              <a:t>₹0</a:t>
            </a:r>
          </a:p>
          <a:p>
            <a:pPr algn="ctr"/>
            <a:r>
              <a:rPr sz="1050" b="1">
                <a:solidFill>
                  <a:srgbClr val="515E6E"/>
                </a:solidFill>
                <a:latin typeface="Arial"/>
              </a:rPr>
              <a:t>INFRA — FREE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800" b="1">
                <a:solidFill>
                  <a:srgbClr val="156082"/>
                </a:solidFill>
                <a:latin typeface="Arial"/>
              </a:rPr>
              <a:t>Live now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E2841"/>
                </a:solidFill>
                <a:latin typeface="Calibri"/>
              </a:rPr>
              <a:t>dhaal-delta.vercel.app (app) · dhaal-api.vercel.app (API) · guardian pairing, community flywheel and the full voice loop verified end-to-end on stage hardware.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800" b="1">
                <a:solidFill>
                  <a:srgbClr val="156082"/>
                </a:solidFill>
                <a:latin typeface="Arial"/>
              </a:rPr>
              <a:t>Risks &amp; mitigations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E2841"/>
                </a:solidFill>
                <a:latin typeface="Calibri"/>
              </a:rPr>
              <a:t>API outage → deterministic fallbacks, demo survives · false positives → delivery-vs-request context rules, tested on real bank OTP/debit SMS (score 0) · blocklist poisoning → human verification before any indicator goes live · scale → stateless serverless + Atlas, TTS caching.</a:t>
            </a:r>
          </a:p>
        </p:txBody>
      </p:sp>
    </p:spTree>
    <p:extLst>
      <p:ext uri="{BB962C8B-B14F-4D97-AF65-F5344CB8AC3E}">
        <p14:creationId xmlns:p14="http://schemas.microsoft.com/office/powerpoint/2010/main" val="2708695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23439-F0E1-61C1-829E-B369A75ED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32971CA-ACDD-36B0-40C5-99AEF2A9D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F7738DEC-68AB-76B9-D1EA-AAC0A4CF9E8C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IMPACT AND BENEFITS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1FB5B7-A302-A73D-CE6A-C77517907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11AD2A-5452-63AF-EE44-AB470595E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17830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C62828"/>
                </a:solidFill>
                <a:latin typeface="Arial"/>
              </a:rPr>
              <a:t>₹22,495 crore</a:t>
            </a:r>
            <a:r>
              <a:rPr sz="1900" b="1">
                <a:solidFill>
                  <a:srgbClr val="0E2841"/>
                </a:solidFill>
                <a:latin typeface="Arial"/>
              </a:rPr>
              <a:t>  lost to cyber fraud in 2025 — and the victim pressed PAY themselves.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0E2841"/>
                </a:solidFill>
                <a:latin typeface="Calibri"/>
              </a:rPr>
              <a:t>24.51B UPI txns/month (NPCI Aug '26) · 28.1 lakh complaints in 2025 (I4C) · ₹805 crore UPI fraud in FY26 (Parliament) — bank controls cannot stop payments the victim authorises.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2044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50" b="1">
                <a:solidFill>
                  <a:srgbClr val="0E2841"/>
                </a:solidFill>
                <a:latin typeface="Arial"/>
              </a:rPr>
              <a:t>1 REPORT</a:t>
            </a:r>
          </a:p>
          <a:p>
            <a:pPr algn="ctr"/>
            <a:r>
              <a:rPr sz="950" b="0">
                <a:solidFill>
                  <a:srgbClr val="515E6E"/>
                </a:solidFill>
                <a:latin typeface="Calibri"/>
              </a:rPr>
              <a:t>10 seconds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00400" y="3822191"/>
            <a:ext cx="347472" cy="384048"/>
          </a:xfrm>
          <a:prstGeom prst="rightArrow">
            <a:avLst/>
          </a:prstGeom>
          <a:solidFill>
            <a:srgbClr val="E8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66160" y="352044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50" b="1">
                <a:solidFill>
                  <a:srgbClr val="0E2841"/>
                </a:solidFill>
                <a:latin typeface="Arial"/>
              </a:rPr>
              <a:t>HUMAN VERIFY</a:t>
            </a:r>
          </a:p>
          <a:p>
            <a:pPr algn="ctr"/>
            <a:r>
              <a:rPr sz="950" b="0">
                <a:solidFill>
                  <a:srgbClr val="515E6E"/>
                </a:solidFill>
                <a:latin typeface="Calibri"/>
              </a:rPr>
              <a:t>no rumour poisoning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43600" y="3822191"/>
            <a:ext cx="347472" cy="384048"/>
          </a:xfrm>
          <a:prstGeom prst="rightArrow">
            <a:avLst/>
          </a:prstGeom>
          <a:solidFill>
            <a:srgbClr val="E8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352044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50" b="1">
                <a:solidFill>
                  <a:srgbClr val="0E2841"/>
                </a:solidFill>
                <a:latin typeface="Arial"/>
              </a:rPr>
              <a:t>BLOCKLIST LIVE</a:t>
            </a:r>
          </a:p>
          <a:p>
            <a:pPr algn="ctr"/>
            <a:r>
              <a:rPr sz="950" b="0">
                <a:solidFill>
                  <a:srgbClr val="515E6E"/>
                </a:solidFill>
                <a:latin typeface="Calibri"/>
              </a:rPr>
              <a:t>durable · Atlas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86800" y="3822191"/>
            <a:ext cx="347472" cy="384048"/>
          </a:xfrm>
          <a:prstGeom prst="rightArrow">
            <a:avLst/>
          </a:prstGeom>
          <a:solidFill>
            <a:srgbClr val="E8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52560" y="352044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E8F3EA"/>
          </a:solidFill>
          <a:ln w="285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50" b="1">
                <a:solidFill>
                  <a:srgbClr val="2E7D32"/>
                </a:solidFill>
                <a:latin typeface="Arial"/>
              </a:rPr>
              <a:t>EVERYONE SHIELDED</a:t>
            </a:r>
          </a:p>
          <a:p>
            <a:pPr algn="ctr"/>
            <a:r>
              <a:rPr sz="950" b="0">
                <a:solidFill>
                  <a:srgbClr val="515E6E"/>
                </a:solidFill>
                <a:latin typeface="Calibri"/>
              </a:rPr>
              <a:t>every phone, instantly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63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56082"/>
                </a:solidFill>
                <a:latin typeface="Arial"/>
              </a:rPr>
              <a:t>↻ herd immunity for fraud — the shield compounds with every 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120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800" b="1">
                <a:solidFill>
                  <a:srgbClr val="156082"/>
                </a:solidFill>
                <a:latin typeface="Arial"/>
              </a:rPr>
              <a:t>Who benefits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E2841"/>
                </a:solidFill>
                <a:latin typeface="Calibri"/>
              </a:rPr>
              <a:t>Every Indian with a phone (free forever) · the elderly — the most-targeted group (guardian mode) · banks &amp; UPI apps (fewer reimbursements) · cyber cells (structured early reports — fast 1930 reporting has already saved ₹7,130+ crore).</a:t>
            </a:r>
          </a:p>
        </p:txBody>
      </p:sp>
    </p:spTree>
    <p:extLst>
      <p:ext uri="{BB962C8B-B14F-4D97-AF65-F5344CB8AC3E}">
        <p14:creationId xmlns:p14="http://schemas.microsoft.com/office/powerpoint/2010/main" val="3870938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85737-2B79-DAA5-C0FC-3D3F4D07C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2F3364C-73ED-2B0D-5A27-C037A7892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4AC60AF1-F5C0-2574-2D97-03A2B872B0BF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BUSINESS MODEL &amp; SUSTAINABILITY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B213A8-0620-9CAC-346A-D9C5510A6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5B3C90-BB77-B1F0-3AF6-B60911167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1828800"/>
            <a:ext cx="105156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0E2841"/>
                </a:solidFill>
                <a:latin typeface="Arial"/>
              </a:rPr>
              <a:t>Citizens: free forever. Institutions pay.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E2841"/>
                </a:solidFill>
                <a:latin typeface="Calibri"/>
              </a:rPr>
              <a:t>Protection this fundamental must not be paywalled — and by construction the marginal cost per check is a fraction of a paisa (deterministic verdict; one short narration).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800" b="1">
                <a:solidFill>
                  <a:srgbClr val="156082"/>
                </a:solidFill>
                <a:latin typeface="Arial"/>
              </a:rPr>
              <a:t>Revenue — from those who bear today's fraud cost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E2841"/>
                </a:solidFill>
                <a:latin typeface="Calibri"/>
              </a:rPr>
              <a:t>Risk-API + verified-blocklist licensing to banks, fintechs and UPI apps (they reimburse this fraud today; prevention is cheaper) · pre-payment check SDK inside UPI apps — the check runs before the PAY button renders · deployment partnerships: state cyber cells &amp; the CSC network.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800" b="1">
                <a:solidFill>
                  <a:srgbClr val="156082"/>
                </a:solidFill>
                <a:latin typeface="Arial"/>
              </a:rPr>
              <a:t>Sustainability &amp; moat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E2841"/>
                </a:solidFill>
                <a:latin typeface="Calibri"/>
              </a:rPr>
              <a:t>The community blocklist compounds with every user — a network effect no new entrant starts with · Roadmap: one-tap 1930/I4C hand-off · 10+ Indic languages via the same Sarvam pipeline (one parameter) · auto-verify thresholds for moderation at scale.</a:t>
            </a:r>
          </a:p>
        </p:txBody>
      </p:sp>
    </p:spTree>
    <p:extLst>
      <p:ext uri="{BB962C8B-B14F-4D97-AF65-F5344CB8AC3E}">
        <p14:creationId xmlns:p14="http://schemas.microsoft.com/office/powerpoint/2010/main" val="3148853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069AF-266D-7202-335D-8DC1EEFB4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A07BF2D-405B-F952-ECBF-F0EA885B9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2B96996-1E14-27C4-BD54-FE3A5019118B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RESEARCH AND REFERENCES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5AF521-D8E2-B952-887A-E121A4C28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D96FF5-44D9-6948-A357-46C1D7C30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800" b="1">
                <a:solidFill>
                  <a:srgbClr val="156082"/>
                </a:solidFill>
                <a:latin typeface="Arial"/>
              </a:rPr>
              <a:t>Data sources (verified 11 Sep 2026)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E2841"/>
                </a:solidFill>
                <a:latin typeface="Calibri"/>
              </a:rPr>
              <a:t>NPCI monthly UPI statistics — 24.51B transactions / ₹29.82 lakh crore, Aug 2026 · I4C (MHA): ₹22,495 crore lost, 28.1 lakh complaints, 2025; 32.4M calls to 1930 · Ministry of Finance, Rajya Sabha reply: ₹805 crore UPI fraud, 10.64 lakh incidents, FY26 (to Nov) · PIB/MHA: ₹7,130+ crore saved via CFCFRMS (1930) early reporting · RBI guidelines on unauthorised-transaction liability.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800" b="1">
                <a:solidFill>
                  <a:srgbClr val="156082"/>
                </a:solidFill>
                <a:latin typeface="Arial"/>
              </a:rPr>
              <a:t>Domain research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E2841"/>
                </a:solidFill>
                <a:latin typeface="Calibri"/>
              </a:rPr>
              <a:t>Scam-script corpus from I4C advisories &amp; documented fraud patterns: digital arrest, KYC-expiry, collect-request refund bait, OLX/army advance, job-task &amp; loan-fee scams, electricity disconnection, victim-voiced coercion · upi:// deep-link collect-vs-pay semantics · NPCI PSP handle registry for VPA verification.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800" b="1">
                <a:solidFill>
                  <a:srgbClr val="156082"/>
                </a:solidFill>
                <a:latin typeface="Arial"/>
              </a:rPr>
              <a:t>Build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E2841"/>
                </a:solidFill>
                <a:latin typeface="Calibri"/>
              </a:rPr>
              <a:t>Live app: dhaal-delta.vercel.app · API: dhaal-api.vercel.app · Repo: github.com/SaudSatopay/MUJ-HACKX (49 automated checks, full contracts &amp; docs) · Sponsor tech in production: Sarvam AI (Saarika ASR + Bulbul TTS), MongoDB Atlas.</a:t>
            </a:r>
          </a:p>
        </p:txBody>
      </p:sp>
    </p:spTree>
    <p:extLst>
      <p:ext uri="{BB962C8B-B14F-4D97-AF65-F5344CB8AC3E}">
        <p14:creationId xmlns:p14="http://schemas.microsoft.com/office/powerpoint/2010/main" val="779447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47</Words>
  <Application>Microsoft Office PowerPoint</Application>
  <PresentationFormat>Widescreen</PresentationFormat>
  <Paragraphs>11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[BTECH-035-2023-24] ARYAN VERMA</dc:creator>
  <cp:lastModifiedBy>Arindam Sharma</cp:lastModifiedBy>
  <cp:revision>4</cp:revision>
  <dcterms:created xsi:type="dcterms:W3CDTF">2025-10-30T13:49:42Z</dcterms:created>
  <dcterms:modified xsi:type="dcterms:W3CDTF">2026-09-11T11:22:36Z</dcterms:modified>
</cp:coreProperties>
</file>